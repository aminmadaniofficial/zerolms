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3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4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theme/theme5.xml" ContentType="application/vnd.openxmlformats-officedocument.theme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4002" r:id="rId1"/>
    <p:sldMasterId id="2147484110" r:id="rId2"/>
    <p:sldMasterId id="2147484128" r:id="rId3"/>
    <p:sldMasterId id="2147484200" r:id="rId4"/>
    <p:sldMasterId id="2147484218" r:id="rId5"/>
    <p:sldMasterId id="2147484236" r:id="rId6"/>
  </p:sldMasterIdLst>
  <p:notesMasterIdLst>
    <p:notesMasterId r:id="rId21"/>
  </p:notesMasterIdLst>
  <p:sldIdLst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6858000" cy="9144000"/>
  <p:embeddedFontLst>
    <p:embeddedFont>
      <p:font typeface="B Farnaz" panose="00000400000000000000" pitchFamily="2" charset="-78"/>
      <p:regular r:id="rId22"/>
    </p:embeddedFont>
    <p:embeddedFont>
      <p:font typeface="B Narm" panose="00000400000000000000" pitchFamily="2" charset="-78"/>
      <p:regular r:id="rId23"/>
    </p:embeddedFont>
    <p:embeddedFont>
      <p:font typeface="Century Gothic" panose="020B0502020202020204" pitchFamily="34" charset="0"/>
      <p:regular r:id="rId24"/>
      <p:bold r:id="rId25"/>
      <p:italic r:id="rId26"/>
      <p:boldItalic r:id="rId27"/>
    </p:embeddedFont>
    <p:embeddedFont>
      <p:font typeface="Corbel" panose="020B0503020204020204" pitchFamily="34" charset="0"/>
      <p:regular r:id="rId28"/>
      <p:bold r:id="rId29"/>
      <p:italic r:id="rId30"/>
      <p:boldItalic r:id="rId31"/>
    </p:embeddedFont>
    <p:embeddedFont>
      <p:font typeface="DomCasual BT" panose="03060902030302020204" pitchFamily="66" charset="0"/>
      <p:regular r:id="rId32"/>
    </p:embeddedFont>
    <p:embeddedFont>
      <p:font typeface="IRANDorandis" panose="02000400000000000000" pitchFamily="2" charset="-78"/>
      <p:regular r:id="rId33"/>
    </p:embeddedFont>
    <p:embeddedFont>
      <p:font typeface="IranNastaliq" panose="02000503000000020003" pitchFamily="2" charset="0"/>
      <p:regular r:id="rId34"/>
    </p:embeddedFont>
    <p:embeddedFont>
      <p:font typeface="Wingdings 3" panose="05040102010807070707" pitchFamily="18" charset="2"/>
      <p:regular r:id="rId3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font" Target="fonts/font5.fntdata"/><Relationship Id="rId39" Type="http://schemas.openxmlformats.org/officeDocument/2006/relationships/tableStyles" Target="tableStyles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font" Target="fonts/font10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98912D-F773-4311-856C-0F0A72E79DA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10FFA7-66D8-4D66-9F16-EE7FF5A58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456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10FFA7-66D8-4D66-9F16-EE7FF5A5868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429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47E37-1802-7483-A24C-4BFDA98AC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01F092-B52F-C7D1-6C5E-36590051C9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64C5BD-5454-2740-1288-E56723F3A1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B2D24C-8C8E-CF33-5A2A-82384FFA23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10FFA7-66D8-4D66-9F16-EE7FF5A5868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9379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25DB1-C5FC-8918-AF2E-EBFFCCDE8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EF0257-B2CF-4C85-0081-4A6544EA0E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559DAA-E799-4CA1-076F-054037E2D2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055F8-E868-2A95-2E5C-C7C75CB96B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10FFA7-66D8-4D66-9F16-EE7FF5A5868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7863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92142-8376-B694-2C54-5D6FC5EDE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520679-D36F-CDE4-A1BE-73ADD6BB8F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90F51E-BB04-E661-3097-4D17D0A65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55088-4735-26B6-6F84-3B5C4AED91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10FFA7-66D8-4D66-9F16-EE7FF5A5868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9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10CDA-9687-CD4E-CAAD-824AC6EC5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C2E6F1-5C8C-CCEC-4FB8-6736457996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2789AF-426D-6933-0D31-40C7B21488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2818C-7E72-92DC-C76E-EFCE137408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10FFA7-66D8-4D66-9F16-EE7FF5A5868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9405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40D55-E1A8-DC4F-FB19-E22CD003D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DDB8A3-8B49-FE81-B6B3-CF6246A9E0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85FD16-3741-6974-974C-FAF3C31F7C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6EAEDD-7893-CC7D-57A9-F03D394AE9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10FFA7-66D8-4D66-9F16-EE7FF5A5868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040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9287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077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574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056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134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399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637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932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835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615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3168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18403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8664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500955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8735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8625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1661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30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1999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8827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3312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3399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2906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1695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2700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5940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84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4508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589288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26836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5416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74748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4290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83346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0">
                      <a:schemeClr val="tx1"/>
                    </a:gs>
                    <a:gs pos="68000">
                      <a:srgbClr val="F1F1F1"/>
                    </a:gs>
                    <a:gs pos="100000">
                      <a:schemeClr val="bg1">
                        <a:lumMod val="11000"/>
                        <a:lumOff val="89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defRPr>
            </a:lvl1pPr>
          </a:lstStyle>
          <a:p>
            <a:pPr lvl="0" algn="r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</a:lstStyle>
          <a:p>
            <a:pPr marL="0" lvl="0" indent="0" algn="r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21195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37966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32000"/>
                        <a:lumOff val="68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45916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81241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94295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55155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14559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2758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62080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6666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86100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8177743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47125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93472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58512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604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94243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7393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7879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43395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61554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52123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00216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19337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66795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52546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1340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83984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56577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17724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66354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32646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38017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12576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598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32805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64876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87566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66523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5459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91961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22941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61532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4278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24264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765476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30295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747324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576970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84045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843440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0337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269290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79055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689848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231812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57908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952801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95489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796033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76241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23607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603363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24721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408116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695275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73942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669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4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67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slideLayout" Target="../slideLayouts/slideLayout81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slideLayout" Target="../slideLayouts/slideLayout80.xml"/><Relationship Id="rId17" Type="http://schemas.openxmlformats.org/officeDocument/2006/relationships/slideLayout" Target="../slideLayouts/slideLayout85.xml"/><Relationship Id="rId2" Type="http://schemas.openxmlformats.org/officeDocument/2006/relationships/slideLayout" Target="../slideLayouts/slideLayout70.xml"/><Relationship Id="rId16" Type="http://schemas.openxmlformats.org/officeDocument/2006/relationships/slideLayout" Target="../slideLayouts/slideLayout84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5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Relationship Id="rId14" Type="http://schemas.openxmlformats.org/officeDocument/2006/relationships/slideLayout" Target="../slideLayouts/slideLayout82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3.xml"/><Relationship Id="rId13" Type="http://schemas.openxmlformats.org/officeDocument/2006/relationships/slideLayout" Target="../slideLayouts/slideLayout98.xml"/><Relationship Id="rId18" Type="http://schemas.openxmlformats.org/officeDocument/2006/relationships/theme" Target="../theme/theme6.xml"/><Relationship Id="rId3" Type="http://schemas.openxmlformats.org/officeDocument/2006/relationships/slideLayout" Target="../slideLayouts/slideLayout88.xml"/><Relationship Id="rId7" Type="http://schemas.openxmlformats.org/officeDocument/2006/relationships/slideLayout" Target="../slideLayouts/slideLayout92.xml"/><Relationship Id="rId12" Type="http://schemas.openxmlformats.org/officeDocument/2006/relationships/slideLayout" Target="../slideLayouts/slideLayout97.xml"/><Relationship Id="rId17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87.xml"/><Relationship Id="rId16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86.xml"/><Relationship Id="rId6" Type="http://schemas.openxmlformats.org/officeDocument/2006/relationships/slideLayout" Target="../slideLayouts/slideLayout91.xml"/><Relationship Id="rId11" Type="http://schemas.openxmlformats.org/officeDocument/2006/relationships/slideLayout" Target="../slideLayouts/slideLayout96.xml"/><Relationship Id="rId5" Type="http://schemas.openxmlformats.org/officeDocument/2006/relationships/slideLayout" Target="../slideLayouts/slideLayout90.xml"/><Relationship Id="rId15" Type="http://schemas.openxmlformats.org/officeDocument/2006/relationships/slideLayout" Target="../slideLayouts/slideLayout100.xml"/><Relationship Id="rId10" Type="http://schemas.openxmlformats.org/officeDocument/2006/relationships/slideLayout" Target="../slideLayouts/slideLayout95.xml"/><Relationship Id="rId4" Type="http://schemas.openxmlformats.org/officeDocument/2006/relationships/slideLayout" Target="../slideLayouts/slideLayout89.xml"/><Relationship Id="rId9" Type="http://schemas.openxmlformats.org/officeDocument/2006/relationships/slideLayout" Target="../slideLayouts/slideLayout94.xml"/><Relationship Id="rId14" Type="http://schemas.openxmlformats.org/officeDocument/2006/relationships/slideLayout" Target="../slideLayouts/slideLayout9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0676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3" r:id="rId1"/>
    <p:sldLayoutId id="2147484004" r:id="rId2"/>
    <p:sldLayoutId id="2147484005" r:id="rId3"/>
    <p:sldLayoutId id="2147484006" r:id="rId4"/>
    <p:sldLayoutId id="2147484007" r:id="rId5"/>
    <p:sldLayoutId id="2147484008" r:id="rId6"/>
    <p:sldLayoutId id="2147484009" r:id="rId7"/>
    <p:sldLayoutId id="2147484010" r:id="rId8"/>
    <p:sldLayoutId id="2147484011" r:id="rId9"/>
    <p:sldLayoutId id="2147484012" r:id="rId10"/>
    <p:sldLayoutId id="2147484013" r:id="rId11"/>
    <p:sldLayoutId id="2147484014" r:id="rId12"/>
    <p:sldLayoutId id="2147484015" r:id="rId13"/>
    <p:sldLayoutId id="2147484016" r:id="rId14"/>
    <p:sldLayoutId id="2147484017" r:id="rId15"/>
    <p:sldLayoutId id="2147484018" r:id="rId16"/>
    <p:sldLayoutId id="214748401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9100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11" r:id="rId1"/>
    <p:sldLayoutId id="2147484112" r:id="rId2"/>
    <p:sldLayoutId id="2147484113" r:id="rId3"/>
    <p:sldLayoutId id="2147484114" r:id="rId4"/>
    <p:sldLayoutId id="2147484115" r:id="rId5"/>
    <p:sldLayoutId id="2147484116" r:id="rId6"/>
    <p:sldLayoutId id="2147484117" r:id="rId7"/>
    <p:sldLayoutId id="2147484118" r:id="rId8"/>
    <p:sldLayoutId id="2147484119" r:id="rId9"/>
    <p:sldLayoutId id="2147484120" r:id="rId10"/>
    <p:sldLayoutId id="2147484121" r:id="rId11"/>
    <p:sldLayoutId id="2147484122" r:id="rId12"/>
    <p:sldLayoutId id="2147484123" r:id="rId13"/>
    <p:sldLayoutId id="2147484124" r:id="rId14"/>
    <p:sldLayoutId id="2147484125" r:id="rId15"/>
    <p:sldLayoutId id="2147484126" r:id="rId16"/>
    <p:sldLayoutId id="214748412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82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29" r:id="rId1"/>
    <p:sldLayoutId id="2147484130" r:id="rId2"/>
    <p:sldLayoutId id="2147484131" r:id="rId3"/>
    <p:sldLayoutId id="2147484132" r:id="rId4"/>
    <p:sldLayoutId id="2147484133" r:id="rId5"/>
    <p:sldLayoutId id="2147484134" r:id="rId6"/>
    <p:sldLayoutId id="2147484135" r:id="rId7"/>
    <p:sldLayoutId id="2147484136" r:id="rId8"/>
    <p:sldLayoutId id="2147484137" r:id="rId9"/>
    <p:sldLayoutId id="2147484138" r:id="rId10"/>
    <p:sldLayoutId id="2147484139" r:id="rId11"/>
    <p:sldLayoutId id="2147484140" r:id="rId12"/>
    <p:sldLayoutId id="2147484141" r:id="rId13"/>
    <p:sldLayoutId id="2147484142" r:id="rId14"/>
    <p:sldLayoutId id="2147484143" r:id="rId15"/>
    <p:sldLayoutId id="2147484144" r:id="rId16"/>
    <p:sldLayoutId id="214748414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5066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01" r:id="rId1"/>
    <p:sldLayoutId id="2147484202" r:id="rId2"/>
    <p:sldLayoutId id="2147484203" r:id="rId3"/>
    <p:sldLayoutId id="2147484204" r:id="rId4"/>
    <p:sldLayoutId id="2147484205" r:id="rId5"/>
    <p:sldLayoutId id="2147484206" r:id="rId6"/>
    <p:sldLayoutId id="2147484207" r:id="rId7"/>
    <p:sldLayoutId id="2147484208" r:id="rId8"/>
    <p:sldLayoutId id="2147484209" r:id="rId9"/>
    <p:sldLayoutId id="2147484210" r:id="rId10"/>
    <p:sldLayoutId id="2147484211" r:id="rId11"/>
    <p:sldLayoutId id="2147484212" r:id="rId12"/>
    <p:sldLayoutId id="2147484213" r:id="rId13"/>
    <p:sldLayoutId id="2147484214" r:id="rId14"/>
    <p:sldLayoutId id="2147484215" r:id="rId15"/>
    <p:sldLayoutId id="2147484216" r:id="rId16"/>
    <p:sldLayoutId id="214748421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286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19" r:id="rId1"/>
    <p:sldLayoutId id="2147484220" r:id="rId2"/>
    <p:sldLayoutId id="2147484221" r:id="rId3"/>
    <p:sldLayoutId id="2147484222" r:id="rId4"/>
    <p:sldLayoutId id="2147484223" r:id="rId5"/>
    <p:sldLayoutId id="2147484224" r:id="rId6"/>
    <p:sldLayoutId id="2147484225" r:id="rId7"/>
    <p:sldLayoutId id="2147484226" r:id="rId8"/>
    <p:sldLayoutId id="2147484227" r:id="rId9"/>
    <p:sldLayoutId id="2147484228" r:id="rId10"/>
    <p:sldLayoutId id="2147484229" r:id="rId11"/>
    <p:sldLayoutId id="2147484230" r:id="rId12"/>
    <p:sldLayoutId id="2147484231" r:id="rId13"/>
    <p:sldLayoutId id="2147484232" r:id="rId14"/>
    <p:sldLayoutId id="2147484233" r:id="rId15"/>
    <p:sldLayoutId id="2147484234" r:id="rId16"/>
    <p:sldLayoutId id="214748423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1A610C7-608B-4DDC-A1F9-41908280428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53E3E0-AAF0-4D15-8CEF-318AA20E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2380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37" r:id="rId1"/>
    <p:sldLayoutId id="2147484238" r:id="rId2"/>
    <p:sldLayoutId id="2147484239" r:id="rId3"/>
    <p:sldLayoutId id="2147484240" r:id="rId4"/>
    <p:sldLayoutId id="2147484241" r:id="rId5"/>
    <p:sldLayoutId id="2147484242" r:id="rId6"/>
    <p:sldLayoutId id="2147484243" r:id="rId7"/>
    <p:sldLayoutId id="2147484244" r:id="rId8"/>
    <p:sldLayoutId id="2147484245" r:id="rId9"/>
    <p:sldLayoutId id="2147484246" r:id="rId10"/>
    <p:sldLayoutId id="2147484247" r:id="rId11"/>
    <p:sldLayoutId id="2147484248" r:id="rId12"/>
    <p:sldLayoutId id="2147484249" r:id="rId13"/>
    <p:sldLayoutId id="2147484250" r:id="rId14"/>
    <p:sldLayoutId id="2147484251" r:id="rId15"/>
    <p:sldLayoutId id="2147484252" r:id="rId16"/>
    <p:sldLayoutId id="214748425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9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2.xml"/><Relationship Id="rId4" Type="http://schemas.openxmlformats.org/officeDocument/2006/relationships/image" Target="../media/image16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2.xml"/><Relationship Id="rId5" Type="http://schemas.openxmlformats.org/officeDocument/2006/relationships/image" Target="../media/image16.jp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2.xml"/><Relationship Id="rId4" Type="http://schemas.openxmlformats.org/officeDocument/2006/relationships/image" Target="../media/image16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2.xml"/><Relationship Id="rId4" Type="http://schemas.openxmlformats.org/officeDocument/2006/relationships/image" Target="../media/image16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2.xml"/><Relationship Id="rId4" Type="http://schemas.openxmlformats.org/officeDocument/2006/relationships/image" Target="../media/image16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19508F-0871-FDA3-2D90-48180C43E6A4}"/>
              </a:ext>
            </a:extLst>
          </p:cNvPr>
          <p:cNvSpPr txBox="1"/>
          <p:nvPr/>
        </p:nvSpPr>
        <p:spPr>
          <a:xfrm>
            <a:off x="5235678" y="373627"/>
            <a:ext cx="17206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4000" dirty="0">
                <a:latin typeface="IranNastaliq" panose="02000503000000020003" pitchFamily="2" charset="0"/>
                <a:cs typeface="IranNastaliq" panose="02000503000000020003" pitchFamily="2" charset="0"/>
              </a:rPr>
              <a:t>به نام خداوند</a:t>
            </a:r>
          </a:p>
          <a:p>
            <a:pPr algn="ctr"/>
            <a:r>
              <a:rPr lang="fa-IR" sz="4000" dirty="0">
                <a:latin typeface="IranNastaliq" panose="02000503000000020003" pitchFamily="2" charset="0"/>
                <a:cs typeface="IranNastaliq" panose="02000503000000020003" pitchFamily="2" charset="0"/>
              </a:rPr>
              <a:t>جان و خرد</a:t>
            </a:r>
            <a:endParaRPr lang="en-US" sz="4000" dirty="0">
              <a:latin typeface="IranNastaliq" panose="02000503000000020003" pitchFamily="2" charset="0"/>
              <a:cs typeface="IranNastaliq" panose="02000503000000020003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24FB4D-0C14-25A8-2690-FD3BB3AB64FA}"/>
              </a:ext>
            </a:extLst>
          </p:cNvPr>
          <p:cNvSpPr txBox="1"/>
          <p:nvPr/>
        </p:nvSpPr>
        <p:spPr>
          <a:xfrm>
            <a:off x="8062451" y="1543664"/>
            <a:ext cx="351994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fa-IR" sz="3200" dirty="0">
              <a:solidFill>
                <a:srgbClr val="FFFF00"/>
              </a:solidFill>
              <a:latin typeface="IranNastaliq" panose="02000503000000020003" pitchFamily="2" charset="0"/>
              <a:cs typeface="IranNastaliq" panose="02000503000000020003" pitchFamily="2" charset="0"/>
            </a:endParaRPr>
          </a:p>
          <a:p>
            <a:pPr algn="ctr"/>
            <a:r>
              <a:rPr lang="fa-IR" sz="4000" b="1" dirty="0">
                <a:solidFill>
                  <a:schemeClr val="bg1"/>
                </a:solidFill>
                <a:latin typeface="IranNastaliq" panose="02000503000000020003" pitchFamily="2" charset="0"/>
                <a:cs typeface="IranNastaliq" panose="02000503000000020003" pitchFamily="2" charset="0"/>
              </a:rPr>
              <a:t>اعضای تحقیق:</a:t>
            </a:r>
          </a:p>
          <a:p>
            <a:pPr algn="ctr"/>
            <a:endParaRPr lang="fa-IR" sz="3200" dirty="0">
              <a:solidFill>
                <a:srgbClr val="FFFF00"/>
              </a:solidFill>
              <a:latin typeface="IranNastaliq" panose="02000503000000020003" pitchFamily="2" charset="0"/>
              <a:cs typeface="IranNastaliq" panose="02000503000000020003" pitchFamily="2" charset="0"/>
            </a:endParaRPr>
          </a:p>
          <a:p>
            <a:pPr algn="ctr"/>
            <a:r>
              <a:rPr lang="fa-IR" sz="3200" dirty="0">
                <a:solidFill>
                  <a:srgbClr val="FFFF00"/>
                </a:solidFill>
                <a:latin typeface="IranNastaliq" panose="02000503000000020003" pitchFamily="2" charset="0"/>
                <a:cs typeface="IranNastaliq" panose="02000503000000020003" pitchFamily="2" charset="0"/>
              </a:rPr>
              <a:t>امیرعباس ایران نژاد</a:t>
            </a:r>
          </a:p>
          <a:p>
            <a:pPr algn="ctr"/>
            <a:endParaRPr lang="fa-IR" sz="3200" dirty="0">
              <a:solidFill>
                <a:srgbClr val="FFFF00"/>
              </a:solidFill>
              <a:latin typeface="IranNastaliq" panose="02000503000000020003" pitchFamily="2" charset="0"/>
              <a:cs typeface="IranNastaliq" panose="02000503000000020003" pitchFamily="2" charset="0"/>
            </a:endParaRPr>
          </a:p>
          <a:p>
            <a:pPr algn="ctr"/>
            <a:r>
              <a:rPr lang="fa-IR" sz="3200" dirty="0">
                <a:solidFill>
                  <a:srgbClr val="FFFF00"/>
                </a:solidFill>
                <a:latin typeface="IranNastaliq" panose="02000503000000020003" pitchFamily="2" charset="0"/>
                <a:cs typeface="IranNastaliq" panose="02000503000000020003" pitchFamily="2" charset="0"/>
              </a:rPr>
              <a:t>محمدامین مدنی محمدی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A3D7B4-B328-3729-7A59-BC6A4CC19A14}"/>
              </a:ext>
            </a:extLst>
          </p:cNvPr>
          <p:cNvSpPr txBox="1"/>
          <p:nvPr/>
        </p:nvSpPr>
        <p:spPr>
          <a:xfrm>
            <a:off x="4199603" y="1697066"/>
            <a:ext cx="370184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5400" dirty="0">
              <a:solidFill>
                <a:schemeClr val="bg1"/>
              </a:solidFill>
              <a:latin typeface="IranNastaliq" panose="02000503000000020003" pitchFamily="2" charset="0"/>
              <a:cs typeface="IranNastaliq" panose="02000503000000020003" pitchFamily="2" charset="0"/>
            </a:endParaRPr>
          </a:p>
          <a:p>
            <a:pPr algn="ctr"/>
            <a:r>
              <a:rPr lang="fa-IR" sz="5400" b="1" dirty="0">
                <a:solidFill>
                  <a:schemeClr val="bg1"/>
                </a:solidFill>
                <a:latin typeface="IranNastaliq" panose="02000503000000020003" pitchFamily="2" charset="0"/>
                <a:cs typeface="IranNastaliq" panose="02000503000000020003" pitchFamily="2" charset="0"/>
              </a:rPr>
              <a:t>عنوان تحقیق : </a:t>
            </a:r>
            <a:endParaRPr lang="fa-IR" sz="6000" b="1" dirty="0">
              <a:solidFill>
                <a:schemeClr val="bg1"/>
              </a:solidFill>
              <a:latin typeface="IranNastaliq" panose="02000503000000020003" pitchFamily="2" charset="0"/>
              <a:cs typeface="IranNastaliq" panose="02000503000000020003" pitchFamily="2" charset="0"/>
            </a:endParaRPr>
          </a:p>
          <a:p>
            <a:pPr algn="ctr"/>
            <a:r>
              <a:rPr lang="fa-IR" sz="5400" dirty="0">
                <a:solidFill>
                  <a:schemeClr val="bg1"/>
                </a:solidFill>
                <a:latin typeface="IRANDorandis" panose="02000400000000000000" pitchFamily="2" charset="-78"/>
                <a:cs typeface="IRANDorandis" panose="02000400000000000000" pitchFamily="2" charset="-78"/>
              </a:rPr>
              <a:t>پهپاد ها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884D90-ACFA-E7D8-1D62-2FEB15DA1DC1}"/>
              </a:ext>
            </a:extLst>
          </p:cNvPr>
          <p:cNvSpPr txBox="1"/>
          <p:nvPr/>
        </p:nvSpPr>
        <p:spPr>
          <a:xfrm>
            <a:off x="336755" y="2159218"/>
            <a:ext cx="3701846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3600" b="1" dirty="0">
                <a:solidFill>
                  <a:schemeClr val="bg1"/>
                </a:solidFill>
                <a:latin typeface="IranNastaliq" panose="02000503000000020003" pitchFamily="2" charset="0"/>
                <a:cs typeface="IranNastaliq" panose="02000503000000020003" pitchFamily="2" charset="0"/>
              </a:rPr>
              <a:t>کلاس :</a:t>
            </a:r>
            <a:r>
              <a:rPr lang="fa-IR" sz="3200" dirty="0">
                <a:solidFill>
                  <a:schemeClr val="bg1"/>
                </a:solidFill>
                <a:latin typeface="IranNastaliq" panose="02000503000000020003" pitchFamily="2" charset="0"/>
                <a:cs typeface="IranNastaliq" panose="02000503000000020003" pitchFamily="2" charset="0"/>
              </a:rPr>
              <a:t> 7/2</a:t>
            </a:r>
          </a:p>
          <a:p>
            <a:pPr algn="ctr"/>
            <a:endParaRPr lang="fa-IR" sz="3200" dirty="0">
              <a:solidFill>
                <a:schemeClr val="bg1"/>
              </a:solidFill>
              <a:latin typeface="IranNastaliq" panose="02000503000000020003" pitchFamily="2" charset="0"/>
              <a:cs typeface="IranNastaliq" panose="02000503000000020003" pitchFamily="2" charset="0"/>
            </a:endParaRPr>
          </a:p>
          <a:p>
            <a:pPr algn="ctr"/>
            <a:r>
              <a:rPr lang="fa-IR" sz="3600" b="1" dirty="0">
                <a:solidFill>
                  <a:schemeClr val="bg1"/>
                </a:solidFill>
                <a:latin typeface="IranNastaliq" panose="02000503000000020003" pitchFamily="2" charset="0"/>
                <a:cs typeface="IranNastaliq" panose="02000503000000020003" pitchFamily="2" charset="0"/>
              </a:rPr>
              <a:t>تاریخ :</a:t>
            </a:r>
            <a:r>
              <a:rPr lang="fa-IR" sz="3200" dirty="0">
                <a:solidFill>
                  <a:schemeClr val="bg1"/>
                </a:solidFill>
                <a:latin typeface="IranNastaliq" panose="02000503000000020003" pitchFamily="2" charset="0"/>
                <a:cs typeface="IranNastaliq" panose="02000503000000020003" pitchFamily="2" charset="0"/>
              </a:rPr>
              <a:t> 1404/07/11</a:t>
            </a:r>
          </a:p>
          <a:p>
            <a:pPr algn="ctr"/>
            <a:endParaRPr lang="fa-IR" sz="3200" dirty="0">
              <a:solidFill>
                <a:schemeClr val="bg1"/>
              </a:solidFill>
              <a:latin typeface="IranNastaliq" panose="02000503000000020003" pitchFamily="2" charset="0"/>
              <a:cs typeface="IranNastaliq" panose="02000503000000020003" pitchFamily="2" charset="0"/>
            </a:endParaRPr>
          </a:p>
          <a:p>
            <a:pPr algn="ctr"/>
            <a:r>
              <a:rPr lang="fa-IR" sz="3600" b="1" dirty="0">
                <a:solidFill>
                  <a:schemeClr val="bg1"/>
                </a:solidFill>
                <a:latin typeface="IranNastaliq" panose="02000503000000020003" pitchFamily="2" charset="0"/>
                <a:cs typeface="IranNastaliq" panose="02000503000000020003" pitchFamily="2" charset="0"/>
              </a:rPr>
              <a:t>درس : </a:t>
            </a:r>
            <a:r>
              <a:rPr lang="fa-IR" sz="3200" dirty="0">
                <a:solidFill>
                  <a:schemeClr val="bg1"/>
                </a:solidFill>
                <a:latin typeface="IranNastaliq" panose="02000503000000020003" pitchFamily="2" charset="0"/>
                <a:cs typeface="IranNastaliq" panose="02000503000000020003" pitchFamily="2" charset="0"/>
              </a:rPr>
              <a:t>شیمی | استاد رضوانی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DFDFF0-7D52-E8EF-C4E9-2D6055834F9A}"/>
              </a:ext>
            </a:extLst>
          </p:cNvPr>
          <p:cNvSpPr txBox="1"/>
          <p:nvPr/>
        </p:nvSpPr>
        <p:spPr>
          <a:xfrm>
            <a:off x="4278262" y="6037202"/>
            <a:ext cx="37841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3200" dirty="0">
                <a:solidFill>
                  <a:srgbClr val="FFFF00"/>
                </a:solidFill>
                <a:latin typeface="IranNastaliq" panose="02000503000000020003" pitchFamily="2" charset="0"/>
                <a:cs typeface="IranNastaliq" panose="02000503000000020003" pitchFamily="2" charset="0"/>
              </a:rPr>
              <a:t>طراحی شده توسط محمدامین مدنی محمدی</a:t>
            </a:r>
          </a:p>
        </p:txBody>
      </p:sp>
      <p:pic>
        <p:nvPicPr>
          <p:cNvPr id="8" name="Picture 7" descr="A logo with lightning bolt in the middle&#10;&#10;AI-generated content may be incorrect.">
            <a:extLst>
              <a:ext uri="{FF2B5EF4-FFF2-40B4-BE49-F238E27FC236}">
                <a16:creationId xmlns:a16="http://schemas.microsoft.com/office/drawing/2014/main" id="{DA3B3889-E68B-AF91-D743-BBA2E71A78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8" y="220225"/>
            <a:ext cx="1323439" cy="13234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C6ED790-0A6A-8AE8-6809-373111173D1F}"/>
              </a:ext>
            </a:extLst>
          </p:cNvPr>
          <p:cNvSpPr txBox="1"/>
          <p:nvPr/>
        </p:nvSpPr>
        <p:spPr>
          <a:xfrm>
            <a:off x="1015795" y="635480"/>
            <a:ext cx="37018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Bubblegum Superstar" panose="00000400000000000000" pitchFamily="2" charset="0"/>
                <a:cs typeface="IranNastaliq" panose="02000503000000020003" pitchFamily="2" charset="0"/>
              </a:rPr>
              <a:t>Zero Group</a:t>
            </a:r>
            <a:endParaRPr lang="fa-IR" sz="3600" dirty="0">
              <a:solidFill>
                <a:schemeClr val="bg1"/>
              </a:solidFill>
              <a:latin typeface="Bubblegum Superstar" panose="00000400000000000000" pitchFamily="2" charset="0"/>
              <a:cs typeface="IRANDorandis" panose="02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394993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odel of a jet airplane&#10;&#10;AI-generated content may be incorrect.">
            <a:extLst>
              <a:ext uri="{FF2B5EF4-FFF2-40B4-BE49-F238E27FC236}">
                <a16:creationId xmlns:a16="http://schemas.microsoft.com/office/drawing/2014/main" id="{339324AB-C27F-2006-7E12-9BEA3C5FC9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677" y="3974077"/>
            <a:ext cx="6819900" cy="33147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240B467-715A-992E-2FF1-E73BE3FDFEC7}"/>
              </a:ext>
            </a:extLst>
          </p:cNvPr>
          <p:cNvSpPr txBox="1"/>
          <p:nvPr/>
        </p:nvSpPr>
        <p:spPr>
          <a:xfrm>
            <a:off x="4208206" y="766917"/>
            <a:ext cx="412954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6600" dirty="0">
                <a:cs typeface="B Narm" panose="00000400000000000000" pitchFamily="2" charset="-78"/>
              </a:rPr>
              <a:t>پهپاد چیست</a:t>
            </a:r>
            <a:endParaRPr lang="en-US" sz="6600" dirty="0">
              <a:cs typeface="B Narm" panose="000004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7C7070-6F47-D25D-5166-D7F7F1F7AFDA}"/>
              </a:ext>
            </a:extLst>
          </p:cNvPr>
          <p:cNvSpPr txBox="1"/>
          <p:nvPr/>
        </p:nvSpPr>
        <p:spPr>
          <a:xfrm>
            <a:off x="806245" y="2367171"/>
            <a:ext cx="1057951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2800" b="1" dirty="0">
                <a:cs typeface="B Farnaz" panose="00000400000000000000" pitchFamily="2" charset="-78"/>
              </a:rPr>
              <a:t>پهپاد ( پرنده هدایت پذیر از راه دور ) </a:t>
            </a:r>
            <a:r>
              <a:rPr lang="fa-IR" sz="2800" dirty="0">
                <a:cs typeface="B Farnaz" panose="00000400000000000000" pitchFamily="2" charset="-78"/>
              </a:rPr>
              <a:t>یا </a:t>
            </a:r>
            <a:r>
              <a:rPr lang="en-US" sz="3200" b="1" dirty="0">
                <a:latin typeface="DomCasual BT" panose="03060902030302020204" pitchFamily="66" charset="0"/>
                <a:cs typeface="B Farnaz" panose="00000400000000000000" pitchFamily="2" charset="-78"/>
              </a:rPr>
              <a:t>UAV (Unmanned Aerial Vehicle)</a:t>
            </a:r>
            <a:r>
              <a:rPr lang="fa-IR" sz="2800" b="1" dirty="0">
                <a:cs typeface="B Farnaz" panose="00000400000000000000" pitchFamily="2" charset="-78"/>
              </a:rPr>
              <a:t> </a:t>
            </a:r>
            <a:endParaRPr lang="en-US" sz="2800" b="1" dirty="0">
              <a:cs typeface="B Farnaz" panose="00000400000000000000" pitchFamily="2" charset="-78"/>
            </a:endParaRPr>
          </a:p>
          <a:p>
            <a:pPr algn="ctr" rtl="1"/>
            <a:endParaRPr lang="en-US" sz="2800" b="1" dirty="0">
              <a:cs typeface="B Farnaz" panose="00000400000000000000" pitchFamily="2" charset="-78"/>
            </a:endParaRPr>
          </a:p>
          <a:p>
            <a:pPr algn="ctr" rtl="1"/>
            <a:r>
              <a:rPr lang="fa-IR" sz="2400" dirty="0">
                <a:cs typeface="B Farnaz" panose="00000400000000000000" pitchFamily="2" charset="-78"/>
              </a:rPr>
              <a:t>وسیله ای پرنده و بدون سرنشین است که از راه دور یا به صورت برنامه ریزی شده و خودکار کنترل می شود . این وسیله‌ها در ابتدا بیشتر کاربرد نظامی داشتند، اما امروزه وارد حوزه‌های علمی، صنعتی و حتی سرگرمی شده‌اند.</a:t>
            </a:r>
            <a:endParaRPr lang="en-US" sz="2400" dirty="0">
              <a:cs typeface="B Farnaz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7110901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71B756-5ACC-AF8A-7434-00D5B80EDF18}"/>
              </a:ext>
            </a:extLst>
          </p:cNvPr>
          <p:cNvSpPr txBox="1"/>
          <p:nvPr/>
        </p:nvSpPr>
        <p:spPr>
          <a:xfrm>
            <a:off x="3618270" y="727588"/>
            <a:ext cx="495545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6600" dirty="0">
                <a:cs typeface="B Narm" panose="00000400000000000000" pitchFamily="2" charset="-78"/>
              </a:rPr>
              <a:t>تاریخچه و کاربرد</a:t>
            </a:r>
            <a:endParaRPr lang="en-US" sz="6600" dirty="0">
              <a:cs typeface="B Narm" panose="000004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C46214-0034-36AC-E27D-C2CE0DC60E94}"/>
              </a:ext>
            </a:extLst>
          </p:cNvPr>
          <p:cNvSpPr txBox="1"/>
          <p:nvPr/>
        </p:nvSpPr>
        <p:spPr>
          <a:xfrm>
            <a:off x="245806" y="2321005"/>
            <a:ext cx="1187736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2400" dirty="0">
                <a:cs typeface="B Farnaz" panose="00000400000000000000" pitchFamily="2" charset="-78"/>
              </a:rPr>
              <a:t>نخستین بار ایده پهپاد در </a:t>
            </a:r>
            <a:r>
              <a:rPr lang="fa-IR" sz="2400" b="1" dirty="0">
                <a:cs typeface="B Farnaz" panose="00000400000000000000" pitchFamily="2" charset="-78"/>
              </a:rPr>
              <a:t>جنگ جهانی اول (۱۹۱۶)</a:t>
            </a:r>
            <a:r>
              <a:rPr lang="fa-IR" sz="2400" dirty="0">
                <a:cs typeface="B Farnaz" panose="00000400000000000000" pitchFamily="2" charset="-78"/>
              </a:rPr>
              <a:t> با ساخت پهپاد ابتدایی به نام </a:t>
            </a:r>
            <a:r>
              <a:rPr lang="en-US" sz="2400" dirty="0">
                <a:cs typeface="B Farnaz" panose="00000400000000000000" pitchFamily="2" charset="-78"/>
              </a:rPr>
              <a:t> </a:t>
            </a:r>
            <a:r>
              <a:rPr lang="en-US" sz="2800" i="1" dirty="0">
                <a:latin typeface="DomCasual BT" panose="03060902030302020204" pitchFamily="66" charset="0"/>
                <a:cs typeface="KOODAKO" panose="00000700000000000000" pitchFamily="2" charset="-78"/>
              </a:rPr>
              <a:t>Aerial Target</a:t>
            </a:r>
            <a:r>
              <a:rPr lang="en-US" sz="2800" dirty="0">
                <a:latin typeface="DomCasual BT" panose="03060902030302020204" pitchFamily="66" charset="0"/>
                <a:cs typeface="KOODAKO" panose="00000700000000000000" pitchFamily="2" charset="-78"/>
              </a:rPr>
              <a:t> </a:t>
            </a:r>
            <a:r>
              <a:rPr lang="fa-IR" sz="2400" dirty="0">
                <a:cs typeface="B Farnaz" panose="00000400000000000000" pitchFamily="2" charset="-78"/>
              </a:rPr>
              <a:t>در انگلستان شکل گرفت.</a:t>
            </a:r>
          </a:p>
          <a:p>
            <a:pPr algn="ctr" rtl="1"/>
            <a:r>
              <a:rPr lang="fa-IR" sz="2400" dirty="0">
                <a:cs typeface="B Farnaz" panose="00000400000000000000" pitchFamily="2" charset="-78"/>
              </a:rPr>
              <a:t>در </a:t>
            </a:r>
            <a:r>
              <a:rPr lang="fa-IR" sz="2400" b="1" dirty="0">
                <a:cs typeface="B Farnaz" panose="00000400000000000000" pitchFamily="2" charset="-78"/>
              </a:rPr>
              <a:t>جنگ جهانی دوم</a:t>
            </a:r>
            <a:r>
              <a:rPr lang="fa-IR" sz="2400" dirty="0">
                <a:cs typeface="B Farnaz" panose="00000400000000000000" pitchFamily="2" charset="-78"/>
              </a:rPr>
              <a:t> ارتش آمریکا از پهپادهایی مانند </a:t>
            </a:r>
            <a:r>
              <a:rPr lang="en-US" sz="2400" dirty="0">
                <a:cs typeface="B Farnaz" panose="00000400000000000000" pitchFamily="2" charset="-78"/>
              </a:rPr>
              <a:t> </a:t>
            </a:r>
            <a:r>
              <a:rPr lang="en-US" sz="2800" b="1" dirty="0" err="1">
                <a:latin typeface="DomCasual BT" panose="03060902030302020204" pitchFamily="66" charset="0"/>
                <a:cs typeface="B Farnaz" panose="00000400000000000000" pitchFamily="2" charset="-78"/>
              </a:rPr>
              <a:t>Radioplane</a:t>
            </a:r>
            <a:r>
              <a:rPr lang="en-US" sz="2800" b="1" dirty="0">
                <a:latin typeface="DomCasual BT" panose="03060902030302020204" pitchFamily="66" charset="0"/>
                <a:cs typeface="B Farnaz" panose="00000400000000000000" pitchFamily="2" charset="-78"/>
              </a:rPr>
              <a:t> OQ-2</a:t>
            </a:r>
            <a:r>
              <a:rPr lang="fa-IR" sz="2400" dirty="0">
                <a:cs typeface="B Farnaz" panose="00000400000000000000" pitchFamily="2" charset="-78"/>
              </a:rPr>
              <a:t>برای آموزش پدافند هوایی استفاده کرد.</a:t>
            </a:r>
          </a:p>
          <a:p>
            <a:pPr algn="ctr" rtl="1"/>
            <a:r>
              <a:rPr lang="fa-IR" sz="2400" dirty="0">
                <a:cs typeface="B Farnaz" panose="00000400000000000000" pitchFamily="2" charset="-78"/>
              </a:rPr>
              <a:t>در دهه‌های بعد پهپادها پیشرفته‌تر شدند و در </a:t>
            </a:r>
            <a:r>
              <a:rPr lang="fa-IR" sz="2400" b="1" dirty="0">
                <a:cs typeface="B Farnaz" panose="00000400000000000000" pitchFamily="2" charset="-78"/>
              </a:rPr>
              <a:t>جنگ ویتنام</a:t>
            </a:r>
            <a:r>
              <a:rPr lang="fa-IR" sz="2400" dirty="0">
                <a:cs typeface="B Farnaz" panose="00000400000000000000" pitchFamily="2" charset="-78"/>
              </a:rPr>
              <a:t> برای شناسایی و جمع‌آوری اطلاعات به کار رفتند.</a:t>
            </a:r>
          </a:p>
          <a:p>
            <a:pPr algn="ctr" rtl="1"/>
            <a:r>
              <a:rPr lang="fa-IR" sz="2400" dirty="0">
                <a:cs typeface="B Farnaz" panose="00000400000000000000" pitchFamily="2" charset="-78"/>
              </a:rPr>
              <a:t>از اوایل قرن ۲۱ میلادی، کشورهایی مانند </a:t>
            </a:r>
            <a:r>
              <a:rPr lang="fa-IR" sz="2400" b="1" dirty="0">
                <a:cs typeface="B Farnaz" panose="00000400000000000000" pitchFamily="2" charset="-78"/>
              </a:rPr>
              <a:t>آمریکا، اسرائیل، چین و ترکیه</a:t>
            </a:r>
            <a:r>
              <a:rPr lang="fa-IR" sz="2400" dirty="0">
                <a:cs typeface="B Farnaz" panose="00000400000000000000" pitchFamily="2" charset="-78"/>
              </a:rPr>
              <a:t> به تولید انبوه پهپادهای نظامی و تجاری پرداختند.</a:t>
            </a:r>
          </a:p>
        </p:txBody>
      </p:sp>
      <p:pic>
        <p:nvPicPr>
          <p:cNvPr id="7" name="Picture 6" descr="A white airplane in the sky&#10;&#10;AI-generated content may be incorrect.">
            <a:extLst>
              <a:ext uri="{FF2B5EF4-FFF2-40B4-BE49-F238E27FC236}">
                <a16:creationId xmlns:a16="http://schemas.microsoft.com/office/drawing/2014/main" id="{6CE55648-A9DA-783E-3C1C-EED95376C7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60816" y="2321005"/>
            <a:ext cx="9441612" cy="501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58135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0"/>
                            </p:stCondLst>
                            <p:childTnLst>
                              <p:par>
                                <p:cTn id="21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D74D11-2473-D493-B2AC-ED2F60962CD5}"/>
              </a:ext>
            </a:extLst>
          </p:cNvPr>
          <p:cNvSpPr txBox="1"/>
          <p:nvPr/>
        </p:nvSpPr>
        <p:spPr>
          <a:xfrm>
            <a:off x="2959509" y="609600"/>
            <a:ext cx="627298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6600" b="1" dirty="0">
                <a:cs typeface="B Narm" panose="00000400000000000000" pitchFamily="2" charset="-78"/>
              </a:rPr>
              <a:t>ارتباط پهپاد با زمین</a:t>
            </a:r>
            <a:endParaRPr lang="en-US" sz="6600" b="1" dirty="0">
              <a:cs typeface="B Narm" panose="00000400000000000000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E4FB16-75BE-83EB-BAD7-ED70EBDB14B8}"/>
              </a:ext>
            </a:extLst>
          </p:cNvPr>
          <p:cNvSpPr txBox="1"/>
          <p:nvPr/>
        </p:nvSpPr>
        <p:spPr>
          <a:xfrm>
            <a:off x="1189702" y="2217845"/>
            <a:ext cx="9330813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3200" b="1" spc="-150" dirty="0">
                <a:cs typeface="B Farnaz" panose="00000400000000000000" pitchFamily="2" charset="-78"/>
              </a:rPr>
              <a:t>انواع روش های ارتباط</a:t>
            </a:r>
          </a:p>
          <a:p>
            <a:pPr algn="r" rtl="1"/>
            <a:br>
              <a:rPr lang="fa-IR" sz="2800" b="1" spc="-150" dirty="0">
                <a:cs typeface="B Farnaz" panose="00000400000000000000" pitchFamily="2" charset="-78"/>
              </a:rPr>
            </a:br>
            <a:r>
              <a:rPr lang="fa-IR" sz="2800" b="1" spc="-150" dirty="0">
                <a:cs typeface="B Farnaz" panose="00000400000000000000" pitchFamily="2" charset="-78"/>
              </a:rPr>
              <a:t>1. ارتباط رادیویی</a:t>
            </a:r>
            <a:r>
              <a:rPr lang="fa-IR" sz="2400" b="1" spc="-150" dirty="0">
                <a:cs typeface="B Farnaz" panose="00000400000000000000" pitchFamily="2" charset="-78"/>
              </a:rPr>
              <a:t> (پر استفاده ترین روش)</a:t>
            </a:r>
          </a:p>
          <a:p>
            <a:pPr algn="r" rtl="1"/>
            <a:endParaRPr lang="fa-IR" sz="2400" b="1" spc="-150" dirty="0">
              <a:cs typeface="B Farnaz" panose="00000400000000000000" pitchFamily="2" charset="-78"/>
            </a:endParaRPr>
          </a:p>
          <a:p>
            <a:pPr algn="r" rtl="1"/>
            <a:endParaRPr lang="fa-IR" spc="-150" dirty="0">
              <a:cs typeface="B Farnaz" panose="00000400000000000000" pitchFamily="2" charset="-78"/>
            </a:endParaRPr>
          </a:p>
          <a:p>
            <a:pPr algn="r" rtl="1"/>
            <a:endParaRPr lang="fa-IR" spc="-150" dirty="0">
              <a:cs typeface="B Farnaz" panose="00000400000000000000" pitchFamily="2" charset="-78"/>
            </a:endParaRPr>
          </a:p>
          <a:p>
            <a:pPr algn="r" rtl="1"/>
            <a:r>
              <a:rPr lang="fa-IR" sz="2800" b="1" spc="-150" dirty="0">
                <a:cs typeface="B Farnaz" panose="00000400000000000000" pitchFamily="2" charset="-78"/>
              </a:rPr>
              <a:t>2. ارتباط ماهواره ای </a:t>
            </a:r>
            <a:r>
              <a:rPr lang="fa-IR" sz="2400" b="1" spc="-150" dirty="0">
                <a:cs typeface="B Farnaz" panose="00000400000000000000" pitchFamily="2" charset="-78"/>
              </a:rPr>
              <a:t>( گرون ترین روش)</a:t>
            </a:r>
            <a:endParaRPr lang="en-US" sz="2400" spc="-150" dirty="0">
              <a:cs typeface="B Farnaz" panose="00000400000000000000" pitchFamily="2" charset="-78"/>
            </a:endParaRPr>
          </a:p>
          <a:p>
            <a:pPr lvl="1" algn="r" rtl="1"/>
            <a:r>
              <a:rPr lang="fa-IR" sz="2000" spc="-150" dirty="0">
                <a:cs typeface="B Farnaz" panose="00000400000000000000" pitchFamily="2" charset="-78"/>
              </a:rPr>
              <a:t>برای پهپادهای نظامی پیشرفته استفاده می شود (مانند</a:t>
            </a:r>
            <a:r>
              <a:rPr lang="en-US" sz="2000" spc="-150" dirty="0">
                <a:cs typeface="B Farnaz" panose="00000400000000000000" pitchFamily="2" charset="-78"/>
              </a:rPr>
              <a:t>MQ-9 Reaper </a:t>
            </a:r>
            <a:r>
              <a:rPr lang="fa-IR" sz="2000" spc="-150" dirty="0">
                <a:cs typeface="B Farnaz" panose="00000400000000000000" pitchFamily="2" charset="-78"/>
              </a:rPr>
              <a:t> آمریکا).</a:t>
            </a:r>
          </a:p>
          <a:p>
            <a:pPr lvl="1" algn="r" rtl="1"/>
            <a:endParaRPr lang="fa-IR" sz="2000" spc="-150" dirty="0">
              <a:cs typeface="B Farnaz" panose="00000400000000000000" pitchFamily="2" charset="-78"/>
            </a:endParaRPr>
          </a:p>
          <a:p>
            <a:pPr lvl="1" algn="r" rtl="1"/>
            <a:endParaRPr lang="fa-IR" sz="2000" spc="-150" dirty="0">
              <a:cs typeface="B Farnaz" panose="00000400000000000000" pitchFamily="2" charset="-78"/>
            </a:endParaRPr>
          </a:p>
          <a:p>
            <a:pPr algn="r" rtl="1"/>
            <a:r>
              <a:rPr lang="fa-IR" sz="2800" spc="-150" dirty="0">
                <a:cs typeface="B Farnaz" panose="00000400000000000000" pitchFamily="2" charset="-78"/>
              </a:rPr>
              <a:t>3. خودمختار و برنامه ریزی شده</a:t>
            </a:r>
            <a:endParaRPr lang="en-US" sz="2800" spc="-150" dirty="0">
              <a:cs typeface="B Farnaz" panose="00000400000000000000" pitchFamily="2" charset="-78"/>
            </a:endParaRPr>
          </a:p>
          <a:p>
            <a:pPr algn="r" rtl="1"/>
            <a:endParaRPr lang="en-US" sz="2000" spc="-150" dirty="0">
              <a:cs typeface="B Farnaz" panose="00000400000000000000" pitchFamily="2" charset="-78"/>
            </a:endParaRPr>
          </a:p>
        </p:txBody>
      </p:sp>
      <p:pic>
        <p:nvPicPr>
          <p:cNvPr id="7" name="Picture 6" descr="A drone with propellers and a remote control&#10;&#10;AI-generated content may be incorrect.">
            <a:extLst>
              <a:ext uri="{FF2B5EF4-FFF2-40B4-BE49-F238E27FC236}">
                <a16:creationId xmlns:a16="http://schemas.microsoft.com/office/drawing/2014/main" id="{B4FF25F7-DDB2-7C55-1250-BD12815D5A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56529"/>
            <a:ext cx="5495925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7665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6A9DB-2BE4-0DB5-72C8-A4CB89A27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erson in uniform holding a flag&#10;&#10;AI-generated content may be incorrect.">
            <a:extLst>
              <a:ext uri="{FF2B5EF4-FFF2-40B4-BE49-F238E27FC236}">
                <a16:creationId xmlns:a16="http://schemas.microsoft.com/office/drawing/2014/main" id="{5C478565-3858-4FF8-365C-AD455A33B3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6406" y="1014882"/>
            <a:ext cx="4520600" cy="60239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0C20EB-D989-11E9-5161-3BCFD35FFE9E}"/>
              </a:ext>
            </a:extLst>
          </p:cNvPr>
          <p:cNvSpPr txBox="1"/>
          <p:nvPr/>
        </p:nvSpPr>
        <p:spPr>
          <a:xfrm>
            <a:off x="943897" y="589936"/>
            <a:ext cx="122018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5400" b="1" dirty="0">
                <a:cs typeface="B Narm" panose="00000400000000000000" pitchFamily="2" charset="-78"/>
              </a:rPr>
              <a:t>تعداد پهپاد های کشورها به صورت تقریبی</a:t>
            </a:r>
            <a:endParaRPr lang="en-US" sz="5400" b="1" dirty="0">
              <a:cs typeface="B Narm" panose="00000400000000000000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5E6BDF-89B7-90C3-AABD-003A2E2D2365}"/>
              </a:ext>
            </a:extLst>
          </p:cNvPr>
          <p:cNvSpPr txBox="1"/>
          <p:nvPr/>
        </p:nvSpPr>
        <p:spPr>
          <a:xfrm>
            <a:off x="1538804" y="2692926"/>
            <a:ext cx="9576618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spc="-150" dirty="0">
                <a:cs typeface="B Farnaz" panose="00000400000000000000" pitchFamily="2" charset="-78"/>
              </a:rPr>
              <a:t>آمریکا : </a:t>
            </a:r>
            <a:r>
              <a:rPr lang="fa-IR" sz="2800" spc="-150" dirty="0">
                <a:cs typeface="B Farnaz" panose="00000400000000000000" pitchFamily="2" charset="-78"/>
              </a:rPr>
              <a:t>بیش از 10،000 پهپاد نظامی و غیرنظامی</a:t>
            </a:r>
            <a:endParaRPr lang="fa-IR" sz="3600" spc="-150" dirty="0">
              <a:cs typeface="B Farnaz" panose="00000400000000000000" pitchFamily="2" charset="-78"/>
            </a:endParaRPr>
          </a:p>
          <a:p>
            <a:pPr algn="r" rtl="1"/>
            <a:r>
              <a:rPr lang="fa-IR" sz="3600" spc="-150" dirty="0">
                <a:cs typeface="B Farnaz" panose="00000400000000000000" pitchFamily="2" charset="-78"/>
              </a:rPr>
              <a:t>چین : </a:t>
            </a:r>
            <a:r>
              <a:rPr lang="fa-IR" sz="2800" spc="-150" dirty="0">
                <a:cs typeface="B Farnaz" panose="00000400000000000000" pitchFamily="2" charset="-78"/>
              </a:rPr>
              <a:t>حدود 8،000 تا 9،000 ( هم نظامی و هم تجاری ، بزرگترین تولید کننده تجاری جهان)</a:t>
            </a:r>
          </a:p>
          <a:p>
            <a:pPr algn="r" rtl="1"/>
            <a:r>
              <a:rPr lang="fa-IR" sz="3600" spc="-150" dirty="0">
                <a:cs typeface="B Farnaz" panose="00000400000000000000" pitchFamily="2" charset="-78"/>
              </a:rPr>
              <a:t>اسرائیل : </a:t>
            </a:r>
            <a:r>
              <a:rPr lang="fa-IR" sz="2800" spc="-150" dirty="0">
                <a:cs typeface="B Farnaz" panose="00000400000000000000" pitchFamily="2" charset="-78"/>
              </a:rPr>
              <a:t>چ5ند هزار پهپاد فعال ، جزو صادر کنندگان بزرگ جهان</a:t>
            </a:r>
          </a:p>
          <a:p>
            <a:pPr algn="r" rtl="1"/>
            <a:r>
              <a:rPr lang="fa-IR" sz="3600" spc="-150" dirty="0">
                <a:cs typeface="B Farnaz" panose="00000400000000000000" pitchFamily="2" charset="-78"/>
              </a:rPr>
              <a:t>ترکیه : </a:t>
            </a:r>
            <a:r>
              <a:rPr lang="fa-IR" sz="2800" spc="-150" dirty="0">
                <a:cs typeface="B Farnaz" panose="00000400000000000000" pitchFamily="2" charset="-78"/>
              </a:rPr>
              <a:t>بیش از 1،500 پهپاد نظامی ( مانند </a:t>
            </a:r>
            <a:r>
              <a:rPr lang="en-US" sz="2800" spc="-150" dirty="0" err="1">
                <a:cs typeface="B Farnaz" panose="00000400000000000000" pitchFamily="2" charset="-78"/>
              </a:rPr>
              <a:t>BayRaktar</a:t>
            </a:r>
            <a:r>
              <a:rPr lang="en-US" sz="2800" spc="-150" dirty="0">
                <a:cs typeface="B Farnaz" panose="00000400000000000000" pitchFamily="2" charset="-78"/>
              </a:rPr>
              <a:t> TB2</a:t>
            </a:r>
            <a:r>
              <a:rPr lang="fa-IR" sz="2800" spc="-150" dirty="0">
                <a:cs typeface="B Farnaz" panose="00000400000000000000" pitchFamily="2" charset="-78"/>
              </a:rPr>
              <a:t> )</a:t>
            </a:r>
          </a:p>
          <a:p>
            <a:pPr algn="r" rtl="1"/>
            <a:r>
              <a:rPr lang="fa-IR" sz="3600" spc="-150" dirty="0">
                <a:cs typeface="B Farnaz" panose="00000400000000000000" pitchFamily="2" charset="-78"/>
              </a:rPr>
              <a:t>ایران : </a:t>
            </a:r>
            <a:r>
              <a:rPr lang="fa-IR" sz="2800" spc="-150" dirty="0">
                <a:cs typeface="B Farnaz" panose="00000400000000000000" pitchFamily="2" charset="-78"/>
              </a:rPr>
              <a:t>1،000 تا 3،000 پهپاد فعال به صورت تخمین زده شده</a:t>
            </a:r>
          </a:p>
          <a:p>
            <a:pPr algn="r" rtl="1"/>
            <a:endParaRPr lang="en-US" sz="3600" spc="-150" dirty="0">
              <a:cs typeface="B Farnaz" panose="00000400000000000000" pitchFamily="2" charset="-78"/>
            </a:endParaRPr>
          </a:p>
          <a:p>
            <a:pPr algn="r" rtl="1"/>
            <a:endParaRPr lang="fa-IR" sz="2800" spc="-150" dirty="0">
              <a:cs typeface="B Farnaz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717262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4CED9-FB0C-FF2B-199C-5FD84BE57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flag on a pole&#10;&#10;AI-generated content may be incorrect.">
            <a:extLst>
              <a:ext uri="{FF2B5EF4-FFF2-40B4-BE49-F238E27FC236}">
                <a16:creationId xmlns:a16="http://schemas.microsoft.com/office/drawing/2014/main" id="{132658A6-1A63-2A77-EECE-DB68D0C823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7148" y="1999021"/>
            <a:ext cx="4858979" cy="48589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BC2088-5587-619F-6303-94ABF9CC6A5C}"/>
              </a:ext>
            </a:extLst>
          </p:cNvPr>
          <p:cNvSpPr txBox="1"/>
          <p:nvPr/>
        </p:nvSpPr>
        <p:spPr>
          <a:xfrm>
            <a:off x="270657" y="2649848"/>
            <a:ext cx="122018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5400" b="1" dirty="0">
                <a:cs typeface="B Narm" panose="00000400000000000000" pitchFamily="2" charset="-78"/>
              </a:rPr>
              <a:t>بریم چند نمونه از پهپاد های ایرانی</a:t>
            </a:r>
          </a:p>
          <a:p>
            <a:pPr algn="ctr"/>
            <a:r>
              <a:rPr lang="fa-IR" sz="5400" b="1" dirty="0">
                <a:cs typeface="B Narm" panose="00000400000000000000" pitchFamily="2" charset="-78"/>
              </a:rPr>
              <a:t> رو باهم ببینم</a:t>
            </a:r>
            <a:endParaRPr lang="en-US" sz="5400" b="1" dirty="0">
              <a:cs typeface="B Narm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424950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FF1F2-09C4-61BD-8079-C96F8675E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plane flying in the air&#10;&#10;AI-generated content may be incorrect.">
            <a:extLst>
              <a:ext uri="{FF2B5EF4-FFF2-40B4-BE49-F238E27FC236}">
                <a16:creationId xmlns:a16="http://schemas.microsoft.com/office/drawing/2014/main" id="{624A9056-9D4B-1A00-D79D-DCE64C6BA8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1999" cy="7757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59868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yellow and black plane flying in the air&#10;&#10;AI-generated content may be incorrect.">
            <a:extLst>
              <a:ext uri="{FF2B5EF4-FFF2-40B4-BE49-F238E27FC236}">
                <a16:creationId xmlns:a16="http://schemas.microsoft.com/office/drawing/2014/main" id="{54CAD16A-CEE6-904F-21A2-676D923275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96644"/>
            <a:ext cx="12192000" cy="7236542"/>
          </a:xfrm>
          <a:prstGeom prst="rect">
            <a:avLst/>
          </a:prstGeom>
        </p:spPr>
      </p:pic>
      <p:pic>
        <p:nvPicPr>
          <p:cNvPr id="4" name="Picture 3" descr="A flag with a red white and green stripe&#10;&#10;AI-generated content may be incorrect.">
            <a:extLst>
              <a:ext uri="{FF2B5EF4-FFF2-40B4-BE49-F238E27FC236}">
                <a16:creationId xmlns:a16="http://schemas.microsoft.com/office/drawing/2014/main" id="{E8DE2972-B631-BB6B-2293-15A0F1613B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218" y="6336892"/>
            <a:ext cx="2005781" cy="70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4960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ADBAD-E393-10B8-6506-9F340C83F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airplane on a white square with white hexagons&#10;&#10;AI-generated content may be incorrect.">
            <a:extLst>
              <a:ext uri="{FF2B5EF4-FFF2-40B4-BE49-F238E27FC236}">
                <a16:creationId xmlns:a16="http://schemas.microsoft.com/office/drawing/2014/main" id="{FB227ED2-17B8-EB47-9D41-69407D5020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197213"/>
          </a:xfrm>
          <a:prstGeom prst="rect">
            <a:avLst/>
          </a:prstGeom>
        </p:spPr>
      </p:pic>
      <p:pic>
        <p:nvPicPr>
          <p:cNvPr id="9" name="Picture 8" descr="A black background with white dots&#10;&#10;AI-generated content may be incorrect.">
            <a:extLst>
              <a:ext uri="{FF2B5EF4-FFF2-40B4-BE49-F238E27FC236}">
                <a16:creationId xmlns:a16="http://schemas.microsoft.com/office/drawing/2014/main" id="{A3048377-FB7F-EA3D-2BB7-FA50BA2BDE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1534" y="4616421"/>
            <a:ext cx="7124700" cy="31813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DFC0BD-C0C1-0567-7055-BB37F86D0827}"/>
              </a:ext>
            </a:extLst>
          </p:cNvPr>
          <p:cNvSpPr txBox="1"/>
          <p:nvPr/>
        </p:nvSpPr>
        <p:spPr>
          <a:xfrm>
            <a:off x="2462980" y="5699264"/>
            <a:ext cx="72660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2000" dirty="0">
                <a:solidFill>
                  <a:srgbClr val="00FFFF"/>
                </a:solidFill>
                <a:cs typeface="B Farnaz" panose="00000400000000000000" pitchFamily="2" charset="-78"/>
              </a:rPr>
              <a:t>پهپاد معراج-۵۲۱ از نظر ظاهر و عملکرد بسیار شبیه به پهپادهای پرسه زن سوئیچ بلید آمریکایی است و ابتکاری نو و مهم در سازمان رزم نیروهای مسلح ایران محسوب می‌شود.</a:t>
            </a:r>
            <a:endParaRPr lang="en-US" sz="2000" dirty="0">
              <a:solidFill>
                <a:srgbClr val="00FFFF"/>
              </a:solidFill>
              <a:cs typeface="B Farnaz" panose="00000400000000000000" pitchFamily="2" charset="-78"/>
            </a:endParaRPr>
          </a:p>
        </p:txBody>
      </p:sp>
      <p:pic>
        <p:nvPicPr>
          <p:cNvPr id="10" name="Picture 9" descr="A flag with a red white and green stripe&#10;&#10;AI-generated content may be incorrect.">
            <a:extLst>
              <a:ext uri="{FF2B5EF4-FFF2-40B4-BE49-F238E27FC236}">
                <a16:creationId xmlns:a16="http://schemas.microsoft.com/office/drawing/2014/main" id="{69016487-6592-796E-4265-AF57FA4991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219" y="6363424"/>
            <a:ext cx="2005781" cy="70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3733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2284E-A388-A6E2-D6EF-16F01F364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lane on a platform&#10;&#10;AI-generated content may be incorrect.">
            <a:extLst>
              <a:ext uri="{FF2B5EF4-FFF2-40B4-BE49-F238E27FC236}">
                <a16:creationId xmlns:a16="http://schemas.microsoft.com/office/drawing/2014/main" id="{1B41F971-529F-D56B-ACC9-34E499045A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7819"/>
            <a:ext cx="12190635" cy="7615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338122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6A560-9AAC-8744-668F-C7984F3DC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lane flying in the sky&#10;&#10;AI-generated content may be incorrect.">
            <a:extLst>
              <a:ext uri="{FF2B5EF4-FFF2-40B4-BE49-F238E27FC236}">
                <a16:creationId xmlns:a16="http://schemas.microsoft.com/office/drawing/2014/main" id="{D18C0564-FB77-FA8D-54FF-7CFF5F8B9E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8" b="566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 descr="A flag with a red white and green stripe&#10;&#10;AI-generated content may be incorrect.">
            <a:extLst>
              <a:ext uri="{FF2B5EF4-FFF2-40B4-BE49-F238E27FC236}">
                <a16:creationId xmlns:a16="http://schemas.microsoft.com/office/drawing/2014/main" id="{8200C9BC-D2E8-22A0-1C08-9ACEE48EB5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4994"/>
            <a:ext cx="2005781" cy="70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5997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3E059-89E3-9887-E88E-E92248318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lane flying in the sky">
            <a:extLst>
              <a:ext uri="{FF2B5EF4-FFF2-40B4-BE49-F238E27FC236}">
                <a16:creationId xmlns:a16="http://schemas.microsoft.com/office/drawing/2014/main" id="{187173F8-C8E9-EC2A-A2DD-EA82605C82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53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10" name="Picture 9" descr="A flag with a red white and green stripe&#10;&#10;AI-generated content may be incorrect.">
            <a:extLst>
              <a:ext uri="{FF2B5EF4-FFF2-40B4-BE49-F238E27FC236}">
                <a16:creationId xmlns:a16="http://schemas.microsoft.com/office/drawing/2014/main" id="{5D6DED5F-0AFB-7BC6-1FC4-F33144B585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4645" y="6489290"/>
            <a:ext cx="1327355" cy="368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0689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14C67-6E27-573B-E853-AF03D92C1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model airplane with red wings&#10;&#10;AI-generated content may be incorrect.">
            <a:extLst>
              <a:ext uri="{FF2B5EF4-FFF2-40B4-BE49-F238E27FC236}">
                <a16:creationId xmlns:a16="http://schemas.microsoft.com/office/drawing/2014/main" id="{875693FA-4113-34DF-8158-27FE5E7589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0" name="Picture 9" descr="A flag with a red white and green stripe&#10;&#10;AI-generated content may be incorrect.">
            <a:extLst>
              <a:ext uri="{FF2B5EF4-FFF2-40B4-BE49-F238E27FC236}">
                <a16:creationId xmlns:a16="http://schemas.microsoft.com/office/drawing/2014/main" id="{968F721F-E400-DBF9-2BF3-5A83855952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7535" y="6154994"/>
            <a:ext cx="1996929" cy="70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8813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BA2AF-8407-ADE0-DB30-2FCF540D3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131373-0AEB-2EC2-52E0-878E3DC90BD6}"/>
              </a:ext>
            </a:extLst>
          </p:cNvPr>
          <p:cNvSpPr txBox="1"/>
          <p:nvPr/>
        </p:nvSpPr>
        <p:spPr>
          <a:xfrm>
            <a:off x="3810614" y="1543664"/>
            <a:ext cx="457077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8000" dirty="0">
              <a:solidFill>
                <a:schemeClr val="bg1"/>
              </a:solidFill>
              <a:latin typeface="IranNastaliq" panose="02000503000000020003" pitchFamily="2" charset="0"/>
              <a:cs typeface="IranNastaliq" panose="02000503000000020003" pitchFamily="2" charset="0"/>
            </a:endParaRPr>
          </a:p>
          <a:p>
            <a:pPr algn="ctr"/>
            <a:r>
              <a:rPr lang="fa-IR" sz="8000" dirty="0">
                <a:solidFill>
                  <a:schemeClr val="bg1"/>
                </a:solidFill>
                <a:latin typeface="IranNastaliq" panose="02000503000000020003" pitchFamily="2" charset="0"/>
                <a:cs typeface="IranNastaliq" panose="02000503000000020003" pitchFamily="2" charset="0"/>
              </a:rPr>
              <a:t>با تشکر از توجه شما</a:t>
            </a:r>
            <a:endParaRPr lang="en-US" sz="8000" dirty="0">
              <a:solidFill>
                <a:schemeClr val="bg1"/>
              </a:solidFill>
              <a:latin typeface="IranNastaliq" panose="02000503000000020003" pitchFamily="2" charset="0"/>
              <a:cs typeface="IranNastaliq" panose="02000503000000020003" pitchFamily="2" charset="0"/>
            </a:endParaRPr>
          </a:p>
          <a:p>
            <a:pPr algn="ctr"/>
            <a:endParaRPr lang="fa-IR" sz="8000" dirty="0">
              <a:solidFill>
                <a:schemeClr val="bg1"/>
              </a:solidFill>
              <a:latin typeface="IranNastaliq" panose="02000503000000020003" pitchFamily="2" charset="0"/>
              <a:cs typeface="IranNastaliq" panose="02000503000000020003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0AF54C-062B-6C76-6D99-79C2C552A8A4}"/>
              </a:ext>
            </a:extLst>
          </p:cNvPr>
          <p:cNvSpPr txBox="1"/>
          <p:nvPr/>
        </p:nvSpPr>
        <p:spPr>
          <a:xfrm>
            <a:off x="4278262" y="6037202"/>
            <a:ext cx="37841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3200" dirty="0">
                <a:solidFill>
                  <a:srgbClr val="FFFF00"/>
                </a:solidFill>
                <a:latin typeface="IranNastaliq" panose="02000503000000020003" pitchFamily="2" charset="0"/>
                <a:cs typeface="IranNastaliq" panose="02000503000000020003" pitchFamily="2" charset="0"/>
              </a:rPr>
              <a:t>طراحی شده توسط محمدامین مدنی محمدی</a:t>
            </a:r>
          </a:p>
        </p:txBody>
      </p:sp>
      <p:pic>
        <p:nvPicPr>
          <p:cNvPr id="8" name="Picture 7" descr="A logo with lightning bolt in the middle&#10;&#10;AI-generated content may be incorrect.">
            <a:extLst>
              <a:ext uri="{FF2B5EF4-FFF2-40B4-BE49-F238E27FC236}">
                <a16:creationId xmlns:a16="http://schemas.microsoft.com/office/drawing/2014/main" id="{55E023DB-3F32-22AA-EDC0-AFC349A42E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8" y="220225"/>
            <a:ext cx="1323439" cy="13234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060DC29-560C-E80A-D220-879CCBAD56FE}"/>
              </a:ext>
            </a:extLst>
          </p:cNvPr>
          <p:cNvSpPr txBox="1"/>
          <p:nvPr/>
        </p:nvSpPr>
        <p:spPr>
          <a:xfrm>
            <a:off x="1015795" y="635480"/>
            <a:ext cx="37018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Bubblegum Superstar" panose="00000400000000000000" pitchFamily="2" charset="0"/>
                <a:cs typeface="IranNastaliq" panose="02000503000000020003" pitchFamily="2" charset="0"/>
              </a:rPr>
              <a:t>Zero Group</a:t>
            </a:r>
            <a:endParaRPr lang="fa-IR" sz="3600" dirty="0">
              <a:solidFill>
                <a:schemeClr val="bg1"/>
              </a:solidFill>
              <a:latin typeface="Bubblegum Superstar" panose="00000400000000000000" pitchFamily="2" charset="0"/>
              <a:cs typeface="IRANDorandis" panose="02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77502060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jpeg"/></Relationships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3.xml><?xml version="1.0" encoding="utf-8"?>
<a:theme xmlns:a="http://schemas.openxmlformats.org/drawingml/2006/main" name="1_Depth">
  <a:themeElements>
    <a:clrScheme name="Depth">
      <a:dk1>
        <a:sysClr val="windowText" lastClr="000000"/>
      </a:dk1>
      <a:lt1>
        <a:sysClr val="window" lastClr="FFFFFF"/>
      </a:lt1>
      <a:dk2>
        <a:srgbClr val="454551"/>
      </a:dk2>
      <a:lt2>
        <a:srgbClr val="F2ACD2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3016C5A4-E631-4977-A608-ACFB47552625}"/>
    </a:ext>
  </a:extLst>
</a:theme>
</file>

<file path=ppt/theme/theme4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5.xml><?xml version="1.0" encoding="utf-8"?>
<a:theme xmlns:a="http://schemas.openxmlformats.org/drawingml/2006/main" name="1_Celestial">
  <a:themeElements>
    <a:clrScheme name="Celestial">
      <a:dk1>
        <a:sysClr val="windowText" lastClr="000000"/>
      </a:dk1>
      <a:lt1>
        <a:sysClr val="window" lastClr="FFFFFF"/>
      </a:lt1>
      <a:dk2>
        <a:srgbClr val="104C7E"/>
      </a:dk2>
      <a:lt2>
        <a:srgbClr val="EBEBEB"/>
      </a:lt2>
      <a:accent1>
        <a:srgbClr val="94CE67"/>
      </a:accent1>
      <a:accent2>
        <a:srgbClr val="49D1CD"/>
      </a:accent2>
      <a:accent3>
        <a:srgbClr val="61A5D6"/>
      </a:accent3>
      <a:accent4>
        <a:srgbClr val="9D8CD3"/>
      </a:accent4>
      <a:accent5>
        <a:srgbClr val="E45C8A"/>
      </a:accent5>
      <a:accent6>
        <a:srgbClr val="F98C61"/>
      </a:accent6>
      <a:hlink>
        <a:srgbClr val="AAF172"/>
      </a:hlink>
      <a:folHlink>
        <a:srgbClr val="E7F19A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E44E6A2F-09CD-4BE0-B42D-107FF03CEED6}"/>
    </a:ext>
  </a:extLst>
</a:theme>
</file>

<file path=ppt/theme/theme6.xml><?xml version="1.0" encoding="utf-8"?>
<a:theme xmlns:a="http://schemas.openxmlformats.org/drawingml/2006/main" name="2_Celestial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61DDDE80-2DFA-4F2A-B66F-72059846BDA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139</TotalTime>
  <Words>371</Words>
  <Application>Microsoft Office PowerPoint</Application>
  <PresentationFormat>Widescreen</PresentationFormat>
  <Paragraphs>57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14</vt:i4>
      </vt:variant>
    </vt:vector>
  </HeadingPairs>
  <TitlesOfParts>
    <vt:vector size="33" baseType="lpstr">
      <vt:lpstr>DomCasual BT</vt:lpstr>
      <vt:lpstr>IranNastaliq</vt:lpstr>
      <vt:lpstr>IRANDorandis</vt:lpstr>
      <vt:lpstr>Calibri Light</vt:lpstr>
      <vt:lpstr>Bubblegum Superstar</vt:lpstr>
      <vt:lpstr>Calibri</vt:lpstr>
      <vt:lpstr>Aptos</vt:lpstr>
      <vt:lpstr>Corbel</vt:lpstr>
      <vt:lpstr>Wingdings 3</vt:lpstr>
      <vt:lpstr>Century Gothic</vt:lpstr>
      <vt:lpstr>B Narm</vt:lpstr>
      <vt:lpstr>Arial</vt:lpstr>
      <vt:lpstr>B Farnaz</vt:lpstr>
      <vt:lpstr>Slice</vt:lpstr>
      <vt:lpstr>Depth</vt:lpstr>
      <vt:lpstr>1_Depth</vt:lpstr>
      <vt:lpstr>Celestial</vt:lpstr>
      <vt:lpstr>1_Celestial</vt:lpstr>
      <vt:lpstr>2_Celestial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Mohammadamin Madani</dc:creator>
  <cp:lastModifiedBy>Mohammadamin Madani</cp:lastModifiedBy>
  <cp:revision>1</cp:revision>
  <dcterms:created xsi:type="dcterms:W3CDTF">2025-10-03T15:46:26Z</dcterms:created>
  <dcterms:modified xsi:type="dcterms:W3CDTF">2025-10-03T18:06:02Z</dcterms:modified>
</cp:coreProperties>
</file>